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7" r:id="rId6"/>
    <p:sldId id="272" r:id="rId7"/>
    <p:sldId id="271" r:id="rId8"/>
    <p:sldId id="269" r:id="rId9"/>
    <p:sldId id="270" r:id="rId10"/>
    <p:sldId id="273" r:id="rId11"/>
    <p:sldId id="274" r:id="rId12"/>
    <p:sldId id="275" r:id="rId13"/>
    <p:sldId id="276" r:id="rId14"/>
    <p:sldId id="277" r:id="rId15"/>
    <p:sldId id="268" r:id="rId16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066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/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 of Extreme Weather Events</a:t>
            </a:r>
            <a:endParaRPr lang="en-US" sz="3200" dirty="0"/>
          </a:p>
          <a:p>
            <a:pPr algn="ctr"/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Crop Yield Using ML Models</a:t>
            </a:r>
            <a:endParaRPr lang="en-US" sz="3200" dirty="0"/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Samarpit Sharma (2210992235)</a:t>
            </a:r>
          </a:p>
          <a:p>
            <a:pPr algn="ctr">
              <a:spcBef>
                <a:spcPts val="400"/>
              </a:spcBef>
            </a:pP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Akanksha Chopra(2210991212)</a:t>
            </a:r>
          </a:p>
          <a:p>
            <a:pPr algn="ctr">
              <a:spcBef>
                <a:spcPts val="400"/>
              </a:spcBef>
            </a:pP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Rohit Mahajan (2210992179)</a:t>
            </a:r>
          </a:p>
          <a:p>
            <a:pPr algn="ctr">
              <a:spcBef>
                <a:spcPts val="400"/>
              </a:spcBef>
            </a:pP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Surya Dev Singh(2210992423)</a:t>
            </a:r>
          </a:p>
          <a:p>
            <a:pPr algn="ctr"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/>
            <a:r>
              <a:rPr lang="en-US" sz="20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Dr. Shikha Tuteja</a:t>
            </a:r>
            <a:endParaRPr lang="en-US" sz="2000" dirty="0"/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spcAft>
                <a:spcPts val="600"/>
              </a:spcAft>
              <a:buSzPct val="100000"/>
            </a:pPr>
            <a:r>
              <a:rPr lang="en-US" sz="20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Introduction</a:t>
            </a:r>
            <a:endParaRPr lang="en-US" sz="2000" dirty="0"/>
          </a:p>
          <a:p>
            <a:pPr>
              <a:spcAft>
                <a:spcPts val="600"/>
              </a:spcAft>
              <a:buSzPct val="100000"/>
            </a:pPr>
            <a:r>
              <a:rPr lang="en-US" sz="20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Literature Review</a:t>
            </a:r>
            <a:endParaRPr lang="en-US" sz="2000" dirty="0"/>
          </a:p>
          <a:p>
            <a:pPr>
              <a:spcAft>
                <a:spcPts val="600"/>
              </a:spcAft>
              <a:buSzPct val="100000"/>
            </a:pPr>
            <a:r>
              <a:rPr lang="en-US" sz="20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Methodology</a:t>
            </a:r>
            <a:endParaRPr lang="en-US" sz="2000" dirty="0"/>
          </a:p>
          <a:p>
            <a:pPr>
              <a:spcAft>
                <a:spcPts val="600"/>
              </a:spcAft>
              <a:buSzPct val="100000"/>
            </a:pPr>
            <a:r>
              <a:rPr lang="en-US" sz="20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Tools and Technologies</a:t>
            </a:r>
            <a:endParaRPr lang="en-US" sz="2000" dirty="0"/>
          </a:p>
          <a:p>
            <a:pPr>
              <a:spcAft>
                <a:spcPts val="600"/>
              </a:spcAft>
              <a:buSzPct val="100000"/>
            </a:pPr>
            <a:r>
              <a:rPr lang="en-US" sz="20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Implementation &amp; Feature Engineering</a:t>
            </a:r>
            <a:endParaRPr lang="en-US" sz="2000" dirty="0"/>
          </a:p>
          <a:p>
            <a:pPr>
              <a:spcAft>
                <a:spcPts val="600"/>
              </a:spcAft>
              <a:buSzPct val="100000"/>
            </a:pPr>
            <a:r>
              <a:rPr lang="en-US" sz="20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Results and Performance Analysis</a:t>
            </a:r>
            <a:endParaRPr lang="en-US" sz="2000" dirty="0"/>
          </a:p>
          <a:p>
            <a:pPr>
              <a:spcAft>
                <a:spcPts val="600"/>
              </a:spcAft>
              <a:buSzPct val="100000"/>
            </a:pPr>
            <a:r>
              <a:rPr lang="en-US" sz="20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Major Findings / Outcomes</a:t>
            </a:r>
            <a:endParaRPr lang="en-US" sz="2000" dirty="0"/>
          </a:p>
          <a:p>
            <a:pPr>
              <a:spcAft>
                <a:spcPts val="600"/>
              </a:spcAft>
              <a:buSzPct val="100000"/>
            </a:pPr>
            <a:r>
              <a:rPr lang="en-US" sz="20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 Conclusion and Future Scope</a:t>
            </a:r>
            <a:endParaRPr lang="en-US" sz="2000" dirty="0"/>
          </a:p>
          <a:p>
            <a:pPr>
              <a:spcAft>
                <a:spcPts val="600"/>
              </a:spcAft>
              <a:buSzPct val="100000"/>
            </a:pPr>
            <a:r>
              <a:rPr lang="en-US" sz="20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9. References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AE4DB-06F6-A51A-CF85-2089CF133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6719FE4C-5C8A-C99E-DD4E-BBD22F8CD7C7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1DEEC75F-0550-5794-3F0D-E3F6B4B8AA2C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2A6F39B5-B705-7083-2204-CB54277F3FA3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Background &amp; Motivation</a:t>
            </a:r>
            <a:endParaRPr lang="en-US" dirty="0"/>
          </a:p>
          <a:p>
            <a:pPr>
              <a:spcAft>
                <a:spcPts val="400"/>
              </a:spcAft>
            </a:pP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Agriculture employs 60%+ of the world's population; ~half of India depends on farming for livelihood.</a:t>
            </a:r>
            <a:endParaRPr lang="en-US" dirty="0"/>
          </a:p>
          <a:p>
            <a:pPr>
              <a:spcAft>
                <a:spcPts val="400"/>
              </a:spcAft>
            </a:pP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Anthropogenic climate change is intensifying extreme weather events — floods, droughts, heatwaves, and irregular monsoons.</a:t>
            </a:r>
            <a:endParaRPr lang="en-US" dirty="0"/>
          </a:p>
          <a:p>
            <a:pPr>
              <a:spcAft>
                <a:spcPts val="800"/>
              </a:spcAft>
            </a:pP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Traditional simulation models (DSSAT, APSIM) require heavy </a:t>
            </a:r>
            <a:r>
              <a:rPr lang="en-US" dirty="0" err="1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parameterisation</a:t>
            </a: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and are difficult to scale.</a:t>
            </a:r>
            <a:endParaRPr lang="en-US" dirty="0"/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</a:t>
            </a:r>
            <a:endParaRPr lang="en-US" dirty="0"/>
          </a:p>
          <a:p>
            <a:pPr>
              <a:spcAft>
                <a:spcPts val="800"/>
              </a:spcAft>
            </a:pP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 a machine learning-based system to accurately predict crop yield under normal and extreme weather conditions across 10 Indian states (1997–2020).</a:t>
            </a:r>
            <a:endParaRPr lang="en-US" dirty="0"/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Scope</a:t>
            </a:r>
            <a:endParaRPr lang="en-US" dirty="0"/>
          </a:p>
          <a:p>
            <a:pPr>
              <a:spcAft>
                <a:spcPts val="400"/>
              </a:spcAft>
            </a:pP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 major crops: Rice, Wheat, Maize, Cotton, Sugarcane, Soybean, Groundnut, Barley</a:t>
            </a:r>
            <a:endParaRPr lang="en-US" dirty="0"/>
          </a:p>
          <a:p>
            <a:pPr>
              <a:spcAft>
                <a:spcPts val="400"/>
              </a:spcAft>
            </a:pP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5,000 observations | 15 engineered features | 3 ML models benchmarked</a:t>
            </a:r>
            <a:endParaRPr lang="en-US" dirty="0"/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06732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E02F8-5421-96C9-D4C6-0C21F77F5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85EC8E01-843D-0BA7-FECB-F8F789343637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FCEE1568-DFE5-66C7-4831-C124D48B9C78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243F8FE9-EB84-5154-BEDD-E91F0DDD8EA6}"/>
              </a:ext>
            </a:extLst>
          </p:cNvPr>
          <p:cNvSpPr txBox="1"/>
          <p:nvPr/>
        </p:nvSpPr>
        <p:spPr>
          <a:xfrm>
            <a:off x="152640" y="1009714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 for Crop Yield:  </a:t>
            </a: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Crane-Droesch (2018) validated data-driven ML approaches; Sharma et al. (2021) achieved R²=0.82–0.88 using Random Forest on Indian data.</a:t>
            </a:r>
          </a:p>
          <a:p>
            <a:endParaRPr lang="en-US" dirty="0">
              <a:solidFill>
                <a:srgbClr val="333333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Ensemble Methods:  </a:t>
            </a: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Van Klompenburg et al. (2020) reviewed 50+ studies — ensemble methods consistently outperform individual models. </a:t>
            </a:r>
            <a:r>
              <a:rPr lang="en-US" dirty="0" err="1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Breiman</a:t>
            </a: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(2001) introduced Random Forests; </a:t>
            </a:r>
            <a:r>
              <a:rPr lang="en-US" dirty="0" err="1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XGBoost</a:t>
            </a: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(Chen &amp; </a:t>
            </a:r>
            <a:r>
              <a:rPr lang="en-US" dirty="0" err="1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Guestrin</a:t>
            </a: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2016) further advanced the field.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Extreme Weather:  </a:t>
            </a: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Lobell et al. (2011): Climate trends since 1980 suppressed global crop production. Schlenker &amp; Roberts (2009): Highly non-linear temperature effects on U.S. yields. Seneviratne et al. (2012): Extreme precipitation causes disproportionate agricultural damage.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Gap:  </a:t>
            </a: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studies model overall yield without isolating extreme weather contribution. This study addresses this by engineering a binary </a:t>
            </a:r>
            <a:r>
              <a:rPr lang="en-US" dirty="0" err="1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extreme_weather</a:t>
            </a: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indicator and using a multi-state, multi-crop, 23-year dataset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259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BE7CA-4E1E-5BD5-3282-B5FCB58DC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C373D12E-EB6B-50E9-CE0D-8DDBEBF28D36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FB17ADD3-0BCF-5BE1-29F5-3CB28E0ADDEB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69D10C66-A731-2EE4-8D82-A9EC629CCFB4}"/>
              </a:ext>
            </a:extLst>
          </p:cNvPr>
          <p:cNvSpPr txBox="1"/>
          <p:nvPr/>
        </p:nvSpPr>
        <p:spPr>
          <a:xfrm>
            <a:off x="96981" y="902677"/>
            <a:ext cx="8838720" cy="5527278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&amp; Preprocessing</a:t>
            </a:r>
            <a:endParaRPr lang="en-US" b="1" dirty="0">
              <a:solidFill>
                <a:srgbClr val="333333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742950" lvl="1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merged datasets:</a:t>
            </a:r>
            <a:endParaRPr lang="en-US" dirty="0"/>
          </a:p>
          <a:p>
            <a:pPr marL="1257300" lvl="2" indent="-342900">
              <a:spcAft>
                <a:spcPts val="3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Crop yield records (1997–2020)</a:t>
            </a:r>
            <a:endParaRPr lang="en-US" dirty="0"/>
          </a:p>
          <a:p>
            <a:pPr marL="1257300" lvl="2" indent="-342900">
              <a:spcAft>
                <a:spcPts val="3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State-wise weather data (10 states)</a:t>
            </a:r>
            <a:endParaRPr lang="en-US" dirty="0"/>
          </a:p>
          <a:p>
            <a:pPr marL="1257300" lvl="2" indent="-342900">
              <a:spcAft>
                <a:spcPts val="3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Soil composition (N, P, K, pH)</a:t>
            </a:r>
            <a:endParaRPr lang="en-US" dirty="0"/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5,000 samples | 15 features | 1 target (</a:t>
            </a:r>
            <a:r>
              <a:rPr lang="en-US" b="1" dirty="0" err="1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yield_kgha</a:t>
            </a:r>
            <a:r>
              <a:rPr lang="en-US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dirty="0"/>
          </a:p>
          <a:p>
            <a:pPr marL="1257300" lvl="2" indent="-342900">
              <a:spcAft>
                <a:spcPts val="3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Train/Test split: 80% / 20%</a:t>
            </a:r>
            <a:endParaRPr lang="en-US" dirty="0"/>
          </a:p>
          <a:p>
            <a:pPr marL="1257300" lvl="2" indent="-342900">
              <a:spcAft>
                <a:spcPts val="3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 scaling (standardization)</a:t>
            </a:r>
            <a:endParaRPr lang="en-US" dirty="0"/>
          </a:p>
          <a:p>
            <a:pPr marL="1257300" lvl="2" indent="-342900">
              <a:spcAft>
                <a:spcPts val="3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Label encoding for </a:t>
            </a:r>
            <a:r>
              <a:rPr lang="en-US" dirty="0" err="1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categoricals</a:t>
            </a:r>
            <a:endParaRPr lang="en-US" dirty="0">
              <a:solidFill>
                <a:srgbClr val="333333"/>
              </a:solidFill>
              <a:latin typeface="Times New Roman" pitchFamily="34" charset="0"/>
              <a:cs typeface="Times New Roman" pitchFamily="34" charset="-120"/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Models &amp; Evaluation</a:t>
            </a:r>
          </a:p>
          <a:p>
            <a:pPr marL="742950" lvl="1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ML Models:</a:t>
            </a:r>
            <a:endParaRPr lang="en-US" dirty="0"/>
          </a:p>
          <a:p>
            <a:pPr marL="1257300" lvl="2" indent="-342900">
              <a:spcAft>
                <a:spcPts val="3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 Regression (baseline)</a:t>
            </a:r>
            <a:endParaRPr lang="en-US" dirty="0"/>
          </a:p>
          <a:p>
            <a:pPr marL="1257300" lvl="2" indent="-342900">
              <a:spcAft>
                <a:spcPts val="3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 Forest (n=200 trees)</a:t>
            </a:r>
            <a:endParaRPr lang="en-US" dirty="0"/>
          </a:p>
          <a:p>
            <a:pPr marL="1257300" lvl="2" indent="-342900">
              <a:spcAft>
                <a:spcPts val="6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Gradient Boosting (n=200)</a:t>
            </a:r>
            <a:endParaRPr lang="en-US" dirty="0"/>
          </a:p>
          <a:p>
            <a:pPr marL="742950" lvl="1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Engineering:</a:t>
            </a:r>
            <a:endParaRPr lang="en-US" dirty="0"/>
          </a:p>
          <a:p>
            <a:pPr marL="1257300" lvl="2" indent="-342900">
              <a:spcAft>
                <a:spcPts val="3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i="1" dirty="0" err="1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extreme_weather</a:t>
            </a:r>
            <a:r>
              <a:rPr lang="en-US" i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1 if rainfall &gt; 350 </a:t>
            </a:r>
            <a:r>
              <a:rPr lang="en-US" i="1" dirty="0" err="1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mm’dx</a:t>
            </a:r>
            <a:endParaRPr lang="en-US" dirty="0"/>
          </a:p>
          <a:p>
            <a:pPr marL="742950" lvl="1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 Metrics:</a:t>
            </a:r>
            <a:endParaRPr lang="en-US" dirty="0"/>
          </a:p>
          <a:p>
            <a:pPr marL="1257300" lvl="2" indent="-342900">
              <a:spcAft>
                <a:spcPts val="3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RMSE  |  MAE  |  R² Score</a:t>
            </a:r>
            <a:endParaRPr lang="en-US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7067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ACC3C-B0EB-FC5B-2959-FFF3F780B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383E7A13-28DB-D35A-5A71-97D9B5EBCA45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31ED933B-FB5C-A78C-E003-E15135552D92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B310FAF6-AA5A-6C60-0E92-D54B40C16DF8}"/>
              </a:ext>
            </a:extLst>
          </p:cNvPr>
          <p:cNvSpPr txBox="1"/>
          <p:nvPr/>
        </p:nvSpPr>
        <p:spPr>
          <a:xfrm flipH="1">
            <a:off x="244104" y="1016967"/>
            <a:ext cx="8442336" cy="5059137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spcAft>
                <a:spcPts val="600"/>
              </a:spcAft>
              <a:buSzPct val="100000"/>
              <a:buFontTx/>
              <a:buChar char="•"/>
            </a:pP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 3.10 - </a:t>
            </a: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programming language for data processing and ML implementation.</a:t>
            </a:r>
          </a:p>
          <a:p>
            <a:pPr>
              <a:spcAft>
                <a:spcPts val="600"/>
              </a:spcAft>
              <a:buSzPct val="100000"/>
            </a:pPr>
            <a:endParaRPr lang="en-US" dirty="0">
              <a:solidFill>
                <a:srgbClr val="333333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FontTx/>
              <a:buChar char="•"/>
            </a:pP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Pandas / NumPy - </a:t>
            </a: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loading, merging, preprocessing and numerical operations.</a:t>
            </a:r>
          </a:p>
          <a:p>
            <a:pPr>
              <a:spcAft>
                <a:spcPts val="600"/>
              </a:spcAft>
              <a:buSzPct val="100000"/>
            </a:pP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FontTx/>
              <a:buChar char="•"/>
            </a:pP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Matplotlib - </a:t>
            </a:r>
            <a:r>
              <a:rPr lang="en-US" dirty="0" err="1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Visualisation</a:t>
            </a: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of model performance metrics and feature importance analysis.</a:t>
            </a:r>
          </a:p>
          <a:p>
            <a:pPr>
              <a:spcAft>
                <a:spcPts val="600"/>
              </a:spcAft>
              <a:buSzPct val="100000"/>
            </a:pP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FontTx/>
              <a:buChar char="•"/>
            </a:pP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Google </a:t>
            </a:r>
            <a:r>
              <a:rPr lang="en-US" b="1" dirty="0" err="1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Colab</a:t>
            </a:r>
            <a:r>
              <a:rPr lang="en-US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- </a:t>
            </a: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Cloud-based GPU/CPU computation platform for model training and evaluation.</a:t>
            </a:r>
          </a:p>
          <a:p>
            <a:pPr>
              <a:spcAft>
                <a:spcPts val="600"/>
              </a:spcAft>
              <a:buSzPct val="100000"/>
            </a:pP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FontTx/>
              <a:buChar char="•"/>
            </a:pP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Scikit-Learn - </a:t>
            </a: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 library providing Linear Regression, Random Forest, and Gradient Boosting implementations</a:t>
            </a:r>
          </a:p>
          <a:p>
            <a:pPr>
              <a:spcAft>
                <a:spcPts val="600"/>
              </a:spcAft>
              <a:buSzPct val="100000"/>
            </a:pPr>
            <a:endParaRPr lang="en-US" dirty="0">
              <a:solidFill>
                <a:srgbClr val="333333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FontTx/>
              <a:buChar char="•"/>
            </a:pPr>
            <a:r>
              <a:rPr lang="en-US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Label Encoder - </a:t>
            </a: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Encoding categorical variables (crop type, season, state) for model consumption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FontTx/>
              <a:buChar char="•"/>
            </a:pP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FontTx/>
              <a:buChar char="•"/>
            </a:pP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FontTx/>
              <a:buChar char="•"/>
            </a:pP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dirty="0">
              <a:solidFill>
                <a:srgbClr val="333333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634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7432F-0863-DCD4-9806-4823BFFA5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8A3D0469-79BC-FAB0-A69C-1884350EB6FF}"/>
              </a:ext>
            </a:extLst>
          </p:cNvPr>
          <p:cNvSpPr txBox="1"/>
          <p:nvPr/>
        </p:nvSpPr>
        <p:spPr>
          <a:xfrm>
            <a:off x="0" y="0"/>
            <a:ext cx="64767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&amp; Feature Engineering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C37B0328-744E-85DA-EB5C-FCFEE2A5F5C2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8ECB4F46-8550-8408-DC1C-48F2BAA0CC58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 Set (15 input features)</a:t>
            </a:r>
            <a:endParaRPr lang="en-US" dirty="0"/>
          </a:p>
          <a:p>
            <a:pPr marL="914400" lvl="1" indent="-457200">
              <a:spcAft>
                <a:spcPts val="400"/>
              </a:spcAft>
              <a:buSzPct val="100000"/>
              <a:buFont typeface="+mj-lt"/>
              <a:buAutoNum type="alphaLcParenR"/>
            </a:pP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Weather: </a:t>
            </a:r>
            <a:r>
              <a:rPr lang="en-US" dirty="0" err="1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avg_temp_c</a:t>
            </a: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n-US" dirty="0" err="1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total_rainfall_mm</a:t>
            </a: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n-US" dirty="0" err="1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avg_humidity_pct</a:t>
            </a:r>
            <a:endParaRPr lang="en-US" dirty="0"/>
          </a:p>
          <a:p>
            <a:pPr marL="914400" lvl="1" indent="-457200">
              <a:spcAft>
                <a:spcPts val="400"/>
              </a:spcAft>
              <a:buSzPct val="100000"/>
              <a:buFont typeface="+mj-lt"/>
              <a:buAutoNum type="alphaLcParenR"/>
            </a:pP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Soil: N, P, K (kg/ha), pH</a:t>
            </a:r>
            <a:endParaRPr lang="en-US" dirty="0"/>
          </a:p>
          <a:p>
            <a:pPr marL="914400" lvl="1" indent="-457200">
              <a:spcAft>
                <a:spcPts val="400"/>
              </a:spcAft>
              <a:buSzPct val="100000"/>
              <a:buFont typeface="+mj-lt"/>
              <a:buAutoNum type="alphaLcParenR"/>
            </a:pP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Agronomic: </a:t>
            </a:r>
            <a:r>
              <a:rPr lang="en-US" dirty="0" err="1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fertilizer_kg</a:t>
            </a: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n-US" dirty="0" err="1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pesticide_kg</a:t>
            </a: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n-US" dirty="0" err="1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area_ha</a:t>
            </a: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year</a:t>
            </a:r>
            <a:endParaRPr lang="en-US" dirty="0"/>
          </a:p>
          <a:p>
            <a:pPr marL="914400" lvl="1" indent="-457200">
              <a:spcAft>
                <a:spcPts val="400"/>
              </a:spcAft>
              <a:buSzPct val="100000"/>
              <a:buFont typeface="+mj-lt"/>
              <a:buAutoNum type="alphaLcParenR"/>
            </a:pP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Categorical: crop, season, state (label-encoded)</a:t>
            </a:r>
            <a:endParaRPr lang="en-US" dirty="0"/>
          </a:p>
          <a:p>
            <a:pPr marL="914400" lvl="1" indent="-457200">
              <a:spcAft>
                <a:spcPts val="400"/>
              </a:spcAft>
              <a:buSzPct val="100000"/>
              <a:buFont typeface="+mj-lt"/>
              <a:buAutoNum type="alphaLcParenR"/>
            </a:pP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Engineered: </a:t>
            </a:r>
            <a:r>
              <a:rPr lang="en-US" dirty="0" err="1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extreme_weather</a:t>
            </a: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binary flag (rainfall &gt; 350 mm)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b="1" dirty="0">
              <a:solidFill>
                <a:srgbClr val="333333"/>
              </a:solidFill>
              <a:latin typeface="Times New Roman" pitchFamily="34" charset="0"/>
              <a:cs typeface="Times New Roman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b="1" dirty="0">
              <a:solidFill>
                <a:srgbClr val="333333"/>
              </a:solidFill>
              <a:latin typeface="Times New Roman" pitchFamily="34" charset="0"/>
              <a:cs typeface="Times New Roman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333333"/>
                </a:solidFill>
                <a:latin typeface="Times New Roman" pitchFamily="34" charset="0"/>
                <a:cs typeface="Times New Roman" pitchFamily="34" charset="-120"/>
              </a:rPr>
              <a:t>Mathematical Equation</a:t>
            </a:r>
          </a:p>
          <a:p>
            <a:endParaRPr lang="en-US" sz="2000" i="1" dirty="0">
              <a:solidFill>
                <a:srgbClr val="333333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lvl="1"/>
            <a:r>
              <a:rPr lang="en-US" sz="2000" i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 = √( (1/n) × Σ(yᵢ − ŷᵢ)² )</a:t>
            </a:r>
            <a:endParaRPr lang="en-US" sz="2000" dirty="0"/>
          </a:p>
          <a:p>
            <a:pPr lvl="1"/>
            <a:r>
              <a:rPr lang="en-US" sz="2000" i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MAE  = (1/n) × </a:t>
            </a:r>
            <a:r>
              <a:rPr lang="en-US" sz="2000" i="1" dirty="0" err="1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Σ|y</a:t>
            </a:r>
            <a:r>
              <a:rPr lang="en-US" sz="2000" i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ᵢ − ŷᵢ|</a:t>
            </a:r>
            <a:endParaRPr lang="en-US" sz="2000" dirty="0"/>
          </a:p>
          <a:p>
            <a:pPr lvl="1"/>
            <a:r>
              <a:rPr lang="en-US" sz="2000" i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   = 1 − [Σ(yᵢ − ŷᵢ)² / Σ(yᵢ − ȳ)²]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2000" b="1" dirty="0">
              <a:solidFill>
                <a:srgbClr val="333333"/>
              </a:solidFill>
              <a:latin typeface="Times New Roman" pitchFamily="34" charset="0"/>
              <a:cs typeface="Times New Roman" pitchFamily="34" charset="-120"/>
            </a:endParaRPr>
          </a:p>
        </p:txBody>
      </p:sp>
      <p:sp>
        <p:nvSpPr>
          <p:cNvPr id="2" name="Shape 7">
            <a:extLst>
              <a:ext uri="{FF2B5EF4-FFF2-40B4-BE49-F238E27FC236}">
                <a16:creationId xmlns:a16="http://schemas.microsoft.com/office/drawing/2014/main" id="{E36E19F6-B488-F8A7-CC02-1F96696F642C}"/>
              </a:ext>
            </a:extLst>
          </p:cNvPr>
          <p:cNvSpPr/>
          <p:nvPr/>
        </p:nvSpPr>
        <p:spPr>
          <a:xfrm>
            <a:off x="410276" y="4244746"/>
            <a:ext cx="6476760" cy="1308975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250500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F813F-EB77-DF97-B89F-F73DEA893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77AC35F5-10BD-3AA1-8746-15CE29B68457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Performance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BB7FBAC2-2418-0725-98B0-338D4F861E49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C5778C6D-6437-4658-9393-D888A4099DDE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Performance Comparison (Test Set: 1,000 samples)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2" name="Table 0">
            <a:extLst>
              <a:ext uri="{FF2B5EF4-FFF2-40B4-BE49-F238E27FC236}">
                <a16:creationId xmlns:a16="http://schemas.microsoft.com/office/drawing/2014/main" id="{310BAFB3-22C4-F0EF-360C-65B2051CD3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5560180"/>
              </p:ext>
            </p:extLst>
          </p:nvPr>
        </p:nvGraphicFramePr>
        <p:xfrm>
          <a:off x="457200" y="1894398"/>
          <a:ext cx="7898296" cy="2417196"/>
        </p:xfrm>
        <a:graphic>
          <a:graphicData uri="http://schemas.openxmlformats.org/drawingml/2006/table">
            <a:tbl>
              <a:tblPr/>
              <a:tblGrid>
                <a:gridCol w="2820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2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24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24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429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10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RMSE (kg/ha)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10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MAE (kg/ha)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10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R² Score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10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2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C101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Random Forest ★ (Best)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C101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283.56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C101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225.95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C101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0.0894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2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Gradient Boosting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285.80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227.59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0.0750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2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Linear Regression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286.26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228.76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0.0720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9909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383DD-7987-15BE-EE02-17ED185B2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975BAB4B-1671-7969-A73E-B34E9DA228C0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Findings &amp; Outcomes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87910875-2A77-07C0-30D6-0E2608688EB5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9C725F6C-E709-AD8C-D90E-FA17C023DDF5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 Model:  </a:t>
            </a: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 Forest Regressor — RMSE 283.56 kg/ha, R² 0.0894; confirmed superiority of ensemble methods for agricultural regression.</a:t>
            </a:r>
          </a:p>
          <a:p>
            <a:pPr>
              <a:spcBef>
                <a:spcPts val="400"/>
              </a:spcBef>
            </a:pPr>
            <a:endParaRPr lang="en-US" dirty="0">
              <a:solidFill>
                <a:srgbClr val="333333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Extreme Weather Impact:  </a:t>
            </a: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Years with rainfall &gt; 350 mm consistently showed lower median crop yields and reduced variance across all 10 states and 8 crops.</a:t>
            </a:r>
          </a:p>
          <a:p>
            <a:pPr>
              <a:spcBef>
                <a:spcPts val="400"/>
              </a:spcBef>
            </a:pPr>
            <a:endParaRPr lang="en-US" dirty="0"/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Dominant Predictors: </a:t>
            </a:r>
            <a:r>
              <a:rPr lang="en-US" dirty="0" err="1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Fertiliser</a:t>
            </a: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application and soil nitrogen (importance &gt; 0.12 each); total rainfall, area, and temperature follow. </a:t>
            </a:r>
            <a:r>
              <a:rPr lang="en-US" dirty="0" err="1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extreme_weather</a:t>
            </a: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flag ranks in top half of 15 features.</a:t>
            </a:r>
          </a:p>
          <a:p>
            <a:pPr>
              <a:spcBef>
                <a:spcPts val="400"/>
              </a:spcBef>
            </a:pPr>
            <a:endParaRPr lang="en-US" dirty="0"/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Widening Yield Gap:  </a:t>
            </a: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Temporal analysis (1997–2020) shows the yield depression under extreme weather years has grown wider in recent years — consistent with IPCC projections.</a:t>
            </a:r>
            <a:endParaRPr lang="en-US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07960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B4F67-E188-EBE2-90C3-EC9177738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38A6000A-2BC6-77D7-9C16-66E3227C6747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367C679E-2BF8-FE2C-68D5-BE97E354D312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363AE58F-2162-FF34-EE49-7ADE3A441D5A}"/>
              </a:ext>
            </a:extLst>
          </p:cNvPr>
          <p:cNvSpPr txBox="1"/>
          <p:nvPr/>
        </p:nvSpPr>
        <p:spPr>
          <a:xfrm>
            <a:off x="164008" y="1109742"/>
            <a:ext cx="8838720" cy="5246778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</a:p>
          <a:p>
            <a:pPr marL="800100" lvl="1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 effectively models crop yield under climate stress — RF is the best performing algorithm.</a:t>
            </a:r>
            <a:endParaRPr lang="en-US" dirty="0"/>
          </a:p>
          <a:p>
            <a:pPr marL="800100" lvl="1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Engineered </a:t>
            </a:r>
            <a:r>
              <a:rPr lang="en-US" dirty="0" err="1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extreme_weather</a:t>
            </a: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feature successfully quantifies climate stress impact on yield.</a:t>
            </a:r>
            <a:endParaRPr lang="en-US" dirty="0"/>
          </a:p>
          <a:p>
            <a:pPr marL="800100" lvl="1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Fertiliser</a:t>
            </a: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soil N, and rainfall are dominant yield determinants.</a:t>
            </a:r>
            <a:endParaRPr lang="en-US" dirty="0"/>
          </a:p>
          <a:p>
            <a:pPr marL="800100" lvl="1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Pipeline is modular, reproducible, and applicable to insurance, food security, and risk advisory.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800100" lvl="1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Integrate satellite vegetation indices (NDVI, EVI, LAI) from Sentinel-2 / MODIS.</a:t>
            </a:r>
            <a:endParaRPr lang="en-US" dirty="0"/>
          </a:p>
          <a:p>
            <a:pPr marL="800100" lvl="1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Benchmark </a:t>
            </a:r>
            <a:r>
              <a:rPr lang="en-US" dirty="0" err="1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XGBoost</a:t>
            </a: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n-US" dirty="0" err="1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LightGBM</a:t>
            </a: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and Stacked Generalization on real-world data.</a:t>
            </a:r>
            <a:endParaRPr lang="en-US" dirty="0"/>
          </a:p>
          <a:p>
            <a:pPr marL="800100" lvl="1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Apply LSTM / Temporal CNNs for multi-step yield time-series forecasting.</a:t>
            </a:r>
            <a:endParaRPr lang="en-US" dirty="0"/>
          </a:p>
          <a:p>
            <a:pPr marL="800100" lvl="1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CMIP6 projections for forward-looking yield forecasts under SSP scenarios.</a:t>
            </a:r>
            <a:endParaRPr lang="en-US" dirty="0"/>
          </a:p>
          <a:p>
            <a:pPr marL="800100" lvl="1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end-to-end web advisory system for farmers and extension workers.</a:t>
            </a:r>
            <a:endParaRPr lang="en-US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10845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3683B-A1CA-246B-BC67-8407640DA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A81572F4-4D29-5F3D-3D35-024CE2FF37A6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368EE15A-432D-BBFA-E5D4-C45B0267D2AA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11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F2B88828-6115-AB78-6050-C536BBDDDBAA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spcAft>
                <a:spcPts val="300"/>
              </a:spcAft>
            </a:pP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 FAO, "The State of Food and Agriculture 2021," FAO, Rome, 2021.</a:t>
            </a:r>
            <a:endParaRPr lang="en-US" dirty="0"/>
          </a:p>
          <a:p>
            <a:pPr>
              <a:spcAft>
                <a:spcPts val="300"/>
              </a:spcAft>
            </a:pP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[2] IPCC, "Climate Change 2021: The Physical Science Basis," Cambridge Univ. Press, 2021.</a:t>
            </a:r>
            <a:endParaRPr lang="en-US" dirty="0"/>
          </a:p>
          <a:p>
            <a:pPr>
              <a:spcAft>
                <a:spcPts val="300"/>
              </a:spcAft>
            </a:pP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[3] S. I. Seneviratne et al., Changes in climate extremes, Cambridge Univ. Press, pp. 109–230, 2012.</a:t>
            </a:r>
            <a:endParaRPr lang="en-US" dirty="0"/>
          </a:p>
          <a:p>
            <a:pPr>
              <a:spcAft>
                <a:spcPts val="300"/>
              </a:spcAft>
            </a:pP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[4] M. Schlenker &amp; M. J. Roberts, PNAS, vol. 106, no. 37, pp. 15594–15598, 2009.</a:t>
            </a:r>
            <a:endParaRPr lang="en-US" dirty="0"/>
          </a:p>
          <a:p>
            <a:pPr>
              <a:spcAft>
                <a:spcPts val="300"/>
              </a:spcAft>
            </a:pP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[5] D. B. Lobell, W. Schlenker &amp; J. Costa-Roberts, Science, vol. 333, pp. 616–620, 2011.</a:t>
            </a:r>
            <a:endParaRPr lang="en-US" dirty="0"/>
          </a:p>
          <a:p>
            <a:pPr>
              <a:spcAft>
                <a:spcPts val="300"/>
              </a:spcAft>
            </a:pP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[6] T. Van Klompenburg, A. Kassahun &amp; C. </a:t>
            </a:r>
            <a:r>
              <a:rPr lang="en-US" dirty="0" err="1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Catal</a:t>
            </a: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n-US" dirty="0" err="1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Comput</a:t>
            </a: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 Electron. Agric., vol. 177, 2020.</a:t>
            </a:r>
            <a:endParaRPr lang="en-US" dirty="0"/>
          </a:p>
          <a:p>
            <a:pPr>
              <a:spcAft>
                <a:spcPts val="300"/>
              </a:spcAft>
            </a:pP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[7] L. </a:t>
            </a:r>
            <a:r>
              <a:rPr lang="en-US" dirty="0" err="1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Breiman</a:t>
            </a: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"Random Forests," Machine Learning, vol. 45, no. 1, pp. 5–32, 2001.</a:t>
            </a:r>
            <a:endParaRPr lang="en-US" dirty="0"/>
          </a:p>
          <a:p>
            <a:pPr>
              <a:spcAft>
                <a:spcPts val="300"/>
              </a:spcAft>
            </a:pP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[8] A. Crane-Droesch, Environmental Research Letters, vol. 13, no. 11, 2018.</a:t>
            </a:r>
            <a:endParaRPr lang="en-US" dirty="0"/>
          </a:p>
          <a:p>
            <a:pPr>
              <a:spcAft>
                <a:spcPts val="300"/>
              </a:spcAft>
            </a:pP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[9] P. Sharma, V. K. Mehta &amp; A. Jain, Agricultural Systems, vol. 192, 2021.</a:t>
            </a:r>
            <a:endParaRPr lang="en-US" dirty="0"/>
          </a:p>
          <a:p>
            <a:pPr>
              <a:spcAft>
                <a:spcPts val="300"/>
              </a:spcAft>
            </a:pP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[17] T. Chen &amp; C. </a:t>
            </a:r>
            <a:r>
              <a:rPr lang="en-US" dirty="0" err="1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Guestrin</a:t>
            </a: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"</a:t>
            </a:r>
            <a:r>
              <a:rPr lang="en-US" dirty="0" err="1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XGBoost</a:t>
            </a:r>
            <a:r>
              <a:rPr lang="en-US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," ACM SIGKDD, pp. 785–794, 2016.</a:t>
            </a:r>
            <a:endParaRPr lang="en-US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29664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12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34761</TotalTime>
  <Words>1304</Words>
  <Application>Microsoft Office PowerPoint</Application>
  <PresentationFormat>On-screen Show (4:3)</PresentationFormat>
  <Paragraphs>173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akanksha chopra</cp:lastModifiedBy>
  <cp:revision>2301</cp:revision>
  <dcterms:created xsi:type="dcterms:W3CDTF">2010-04-09T07:36:15Z</dcterms:created>
  <dcterms:modified xsi:type="dcterms:W3CDTF">2026-04-28T07:33:30Z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